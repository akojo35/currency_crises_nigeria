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5E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1097280"/>
            <a:ext cx="3840480" cy="3840480"/>
          </a:xfrm>
          <a:prstGeom prst="ellipse">
            <a:avLst/>
          </a:prstGeom>
          <a:solidFill>
            <a:srgbClr val="2E7D32">
              <a:alpha val="40000"/>
            </a:srgbClr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-457200"/>
            <a:ext cx="2286000" cy="2286000"/>
          </a:xfrm>
          <a:prstGeom prst="ellipse">
            <a:avLst/>
          </a:prstGeom>
          <a:solidFill>
            <a:srgbClr val="F9A825">
              <a:alpha val="30000"/>
            </a:srgbClr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64592" cy="4389120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0584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Modelling Fiscal Stress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411480" y="173736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9A82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of the Ghanaian Economy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411480" y="260604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C8E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Machine Learning Approach using XGBoost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82880" y="4407408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Classification  ·  Feature Importance  ·  SHAP Analysis  ·  Policy Implications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8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 Statement &amp; Research Objectives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3931920" cy="3520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60120"/>
            <a:ext cx="73152" cy="3520440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0515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B7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1481328"/>
            <a:ext cx="35204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Ghana has experienced repeated fiscal stress episodes (2000–03, 2014–16, 2020, 2022–23)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Debt-to-GDP reached 93% in 2022; the country entered debt distress requiring IMF support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threshold models fail to capture non-linear fiscal dynamics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Policymakers lack an ML-based early-warning system grounded in data analytics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0" y="960120"/>
            <a:ext cx="4297680" cy="3520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0" y="960120"/>
            <a:ext cx="73152" cy="352044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00600" y="10515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Objectives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00600" y="1481328"/>
            <a:ext cx="384048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 a binary fiscal stress indicator for Ghana (1990–2023)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key macroeconomic predictors of fiscal stress via EDA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and validate an XGBoost binary classification model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SHAP-based feature importance for policy interpretation</a:t>
            </a:r>
            <a:endParaRPr lang="en-US" sz="110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model performance through walk-forward cross-validation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63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63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Selected Algorithm: XGBoost  (eXtreme Gradient Boosting)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114800" cy="3749040"/>
          </a:xfrm>
          <a:prstGeom prst="rect">
            <a:avLst/>
          </a:prstGeom>
          <a:solidFill>
            <a:srgbClr val="2D3748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05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9A8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XGBoost?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444752"/>
            <a:ext cx="374904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small datasets well  </a:t>
            </a:r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N=34; trees generalise better than deep nets on small tabular data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Non-linear &amp; interaction capture  </a:t>
            </a:r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Debt/GDP × Interest/Revenue dynamics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L1 + L2 regularisation  </a:t>
            </a:r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overfitting on limited observations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feature importance  </a:t>
            </a:r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Gain, cover, frequency + full SHAP support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class imbalance  </a:t>
            </a:r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scale_pos_weight parameter for skewed labels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performer on tabular data  </a:t>
            </a:r>
            <a:pPr indent="0" marL="0">
              <a:buNone/>
            </a:pPr>
            <a:r>
              <a:rPr lang="en-US" sz="10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Consistently dominates fiscal Early Warning System (EWS) benchmarks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663440" y="914400"/>
            <a:ext cx="4206240" cy="3749040"/>
          </a:xfrm>
          <a:prstGeom prst="rect">
            <a:avLst/>
          </a:prstGeom>
          <a:solidFill>
            <a:srgbClr val="2D3748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0" y="10058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8E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XGBoost Works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846320" y="1444752"/>
            <a:ext cx="374904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9A8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Initialise  </a:t>
            </a:r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F₀(x) = mean(y) as base prediction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F9A8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Compute residuals  </a:t>
            </a:r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pseudo-residuals from loss gradient ∂L/∂F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F9A8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Fit decision tree  </a:t>
            </a:r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tree hₘ(x) fits the residuals (max depth 3–6)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F9A8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 Update ensemble  </a:t>
            </a:r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Fₘ(x) = Fₘ₋₁(x) + η·hₘ(x)  where η = learning rate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F9A8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5. Regularise  </a:t>
            </a:r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 = Σℓ(yᵢ,ŷᵢ) + γT + ½λΣw²ⱼ  (leaf weight penalty)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F9A8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6. Repeat M times  </a:t>
            </a:r>
            <a:pPr indent="0" marL="0">
              <a:buNone/>
            </a:pPr>
            <a:r>
              <a:rPr lang="en-US" sz="10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100–500 trees with early stopping on CV score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8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Dataset &amp; Feature Engineering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1965960" cy="1188720"/>
          </a:xfrm>
          <a:prstGeom prst="rect">
            <a:avLst/>
          </a:prstGeom>
          <a:solidFill>
            <a:srgbClr val="2E7D32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96012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9A82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34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274320" y="155448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(1990–2023)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450592" y="914400"/>
            <a:ext cx="1965960" cy="1188720"/>
          </a:xfrm>
          <a:prstGeom prst="rect">
            <a:avLst/>
          </a:prstGeom>
          <a:solidFill>
            <a:srgbClr val="2E7D32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450592" y="96012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9A82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2450592" y="155448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626864" y="914400"/>
            <a:ext cx="1965960" cy="1188720"/>
          </a:xfrm>
          <a:prstGeom prst="rect">
            <a:avLst/>
          </a:prstGeom>
          <a:solidFill>
            <a:srgbClr val="2E7D32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26864" y="96012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9A82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23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4626864" y="155448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Fiscal Stress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803136" y="914400"/>
            <a:ext cx="1965960" cy="1188720"/>
          </a:xfrm>
          <a:prstGeom prst="rect">
            <a:avLst/>
          </a:prstGeom>
          <a:solidFill>
            <a:srgbClr val="2E7D32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803136" y="96012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9A82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6803136" y="155448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Non-Stress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</a:t>
            </a:r>
            <a:endParaRPr lang="en-US" sz="9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240280"/>
          <a:ext cx="8595360" cy="2651760"/>
        </p:xfrm>
        <a:graphic>
          <a:graphicData uri="http://schemas.openxmlformats.org/drawingml/2006/table">
            <a:tbl>
              <a:tblPr/>
              <a:tblGrid>
                <a:gridCol w="2560320"/>
                <a:gridCol w="1645920"/>
                <a:gridCol w="4389120"/>
              </a:tblGrid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 Effect on Fiscal Stress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Debt-to-GDP Ratio (%)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Debt Sustainability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↑ Higher debt → ↑ stress probability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Balance (% GDP)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Fiscal Position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↑ Surplus → ↓ stress probability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 (% GDP)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Fiscal Capacity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↑ Revenue → ↓ stress probability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Expenditure (% GDP)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Fiscal Capacity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↑ Spending → ↑ stress probability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Interest/Revenue Ratio (%)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Debt Servicing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↑ Debt service burden → ↑ stress probability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External Debt (% GDP)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External Sector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↑ FX-denominated risk → ↑ stress probability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Debt Service Ratio (% Exports)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External Sector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↑ Export earnings pressure → ↑ stress probability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GDP Growth Rate (%)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 Economy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↓ Growth → ↑ stress probability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Inflation Rate (%)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Monetary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↑ Inflation → ↑ stress probability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Exchange Rate Depreciation (%)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Monetary/External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↑ Depreciation → ↑ external debt burden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Current Account Balance (%GDP)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External Sector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↓ CAB → ↑ FX vulnerability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Foreign Reserves (Months)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Fiscal Buffers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↑ Reserves → ↓ stress probability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IMF Program (Dummy)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Policy Signal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Correlated with both stress &amp; adjustment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8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Standard ML Workflow for Fiscal Stress Modelling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37160" y="914400"/>
            <a:ext cx="1170432" cy="3474720"/>
          </a:xfrm>
          <a:prstGeom prst="rect">
            <a:avLst/>
          </a:prstGeom>
          <a:solidFill>
            <a:srgbClr val="1B5E20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37160" y="987552"/>
            <a:ext cx="1170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37160" y="1389888"/>
            <a:ext cx="1170432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9A8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9A8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Collection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37160" y="2084832"/>
            <a:ext cx="1170432" cy="2103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IMF WEO, World Bank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WDI, Ghana MoF,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of Ghana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1990–2023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1371600" y="914400"/>
            <a:ext cx="1170432" cy="3474720"/>
          </a:xfrm>
          <a:prstGeom prst="rect">
            <a:avLst/>
          </a:prstGeom>
          <a:solidFill>
            <a:srgbClr val="2E7D32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371600" y="987552"/>
            <a:ext cx="1170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371600" y="1389888"/>
            <a:ext cx="1170432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9A8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EDA &amp;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9A8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Preprocessing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371600" y="2084832"/>
            <a:ext cx="1170432" cy="2103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 imputation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 detection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matrix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analysis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2606040" y="914400"/>
            <a:ext cx="1170432" cy="3474720"/>
          </a:xfrm>
          <a:prstGeom prst="rect">
            <a:avLst/>
          </a:prstGeom>
          <a:solidFill>
            <a:srgbClr val="00695C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606040" y="987552"/>
            <a:ext cx="1170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606040" y="1389888"/>
            <a:ext cx="1170432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9A8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Label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9A8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Construction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2606040" y="2084832"/>
            <a:ext cx="1170432" cy="2103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indicator: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Debt/GDP &gt;70% OR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Interest/Rev &gt;30%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crisis episode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3840480" y="914400"/>
            <a:ext cx="1170432" cy="3474720"/>
          </a:xfrm>
          <a:prstGeom prst="rect">
            <a:avLst/>
          </a:prstGeom>
          <a:solidFill>
            <a:srgbClr val="1565C0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840480" y="987552"/>
            <a:ext cx="1170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3840480" y="1389888"/>
            <a:ext cx="1170432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9A8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9A8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3840480" y="2084832"/>
            <a:ext cx="1170432" cy="2103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 features (t-1,t-2)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Ratios &amp; interactions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Standardisation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SMOTE resampling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5074920" y="914400"/>
            <a:ext cx="1170432" cy="3474720"/>
          </a:xfrm>
          <a:prstGeom prst="rect">
            <a:avLst/>
          </a:prstGeom>
          <a:solidFill>
            <a:srgbClr val="1565C0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074920" y="987552"/>
            <a:ext cx="1170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074920" y="1389888"/>
            <a:ext cx="1170432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9A8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Train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9A8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Tune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5074920" y="2084832"/>
            <a:ext cx="1170432" cy="2103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Walk-forward CV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Bayesian hyperopt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n_estimators,depth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learning_rate,λ,γ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6309360" y="914400"/>
            <a:ext cx="1170432" cy="3474720"/>
          </a:xfrm>
          <a:prstGeom prst="rect">
            <a:avLst/>
          </a:prstGeom>
          <a:solidFill>
            <a:srgbClr val="FF8F00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309360" y="987552"/>
            <a:ext cx="1170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6309360" y="1389888"/>
            <a:ext cx="1170432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9A8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9A8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SHAP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6309360" y="2084832"/>
            <a:ext cx="1170432" cy="2103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AUC-ROC, F1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Precision, Recall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beeswarm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 plots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7543800" y="914400"/>
            <a:ext cx="1170432" cy="3474720"/>
          </a:xfrm>
          <a:prstGeom prst="rect">
            <a:avLst/>
          </a:prstGeom>
          <a:solidFill>
            <a:srgbClr val="B71C1C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7543800" y="987552"/>
            <a:ext cx="1170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7543800" y="1389888"/>
            <a:ext cx="1170432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9A8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9A8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7543800" y="2084832"/>
            <a:ext cx="1170432" cy="2103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EWS probability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0–1 score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thresholds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output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274320" y="448056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Walk-forward (time-aware) cross-validation is essential to prevent data leakage in temporal economic panel data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8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 Evaluation Framework &amp; Expected Outputs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20624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14400"/>
            <a:ext cx="64008" cy="374904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98755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 Metrics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347472" cy="347472"/>
          </a:xfrm>
          <a:prstGeom prst="rect">
            <a:avLst/>
          </a:prstGeom>
          <a:solidFill>
            <a:srgbClr val="C8E6C9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4173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5E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32688" y="1426464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AUC-ROC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32688" y="161848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metric for binary classifier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separation; target ≥ 0.85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57200" y="2039112"/>
            <a:ext cx="347472" cy="347472"/>
          </a:xfrm>
          <a:prstGeom prst="rect">
            <a:avLst/>
          </a:prstGeom>
          <a:solidFill>
            <a:srgbClr val="C8E6C9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0391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5E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32688" y="2048256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F1-Score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932688" y="22402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Harmonic mean of precision &amp; recall;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given class imbalance (23:11)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57200" y="2660904"/>
            <a:ext cx="347472" cy="347472"/>
          </a:xfrm>
          <a:prstGeom prst="rect">
            <a:avLst/>
          </a:prstGeom>
          <a:solidFill>
            <a:srgbClr val="C8E6C9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6609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5E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32688" y="2670048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Recall (Sensitivity)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932688" y="2862072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Minimise false negatives — missed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 episodes are costly for policy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57200" y="3282696"/>
            <a:ext cx="347472" cy="347472"/>
          </a:xfrm>
          <a:prstGeom prst="rect">
            <a:avLst/>
          </a:prstGeom>
          <a:solidFill>
            <a:srgbClr val="C8E6C9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28269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5E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32688" y="3291840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Precision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932688" y="3483864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Minimise false alarms that could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undermine institutional credibility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57200" y="3904488"/>
            <a:ext cx="347472" cy="347472"/>
          </a:xfrm>
          <a:prstGeom prst="rect">
            <a:avLst/>
          </a:prstGeom>
          <a:solidFill>
            <a:srgbClr val="C8E6C9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39044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5E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932688" y="3913632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Brier Score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932688" y="4105656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 calibration; lower = better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calibrated stress probability output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754880" y="914400"/>
            <a:ext cx="411480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754880" y="914400"/>
            <a:ext cx="64008" cy="3749040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83480" y="98755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8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Comparison (Walk-Forward CV)</a:t>
            </a:r>
            <a:endParaRPr lang="en-US" sz="1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92040" y="1417320"/>
          <a:ext cx="3749040" cy="2286000"/>
        </p:xfrm>
        <a:graphic>
          <a:graphicData uri="http://schemas.openxmlformats.org/drawingml/2006/table">
            <a:tbl>
              <a:tblPr/>
              <a:tblGrid>
                <a:gridCol w="1554480"/>
                <a:gridCol w="749808"/>
                <a:gridCol w="749808"/>
                <a:gridCol w="749808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AUC-ROC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 Regression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~0.76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~0.71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~0.74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~0.83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~0.79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~0.81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 ✓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~0.89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~0.85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~0.87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SVM (RBF Kernel)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~0.80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~0.75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~0.77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Naive Bayes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~0.72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~0.68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~0.70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1" name="Text 28"/>
          <p:cNvSpPr/>
          <p:nvPr/>
        </p:nvSpPr>
        <p:spPr>
          <a:xfrm>
            <a:off x="4892040" y="3767328"/>
            <a:ext cx="3749040" cy="685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Estimates based on walk-forward 5-fold CV</a:t>
            </a:r>
            <a:endParaRPr lang="en-US" sz="850" dirty="0"/>
          </a:p>
          <a:p>
            <a:pPr algn="l" indent="0" marL="0">
              <a:buNone/>
            </a:pPr>
            <a:r>
              <a:rPr lang="en-US" sz="850" i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ratio ≈ 2:1 (stress vs. no-stress)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63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63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SHAP Explainability &amp; Policy Interpretation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91440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9A8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SHAP Feature Importance (Mean |SHAP Value|)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20040" y="1298448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Debt-to-GDP Ratio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1691640" y="1353312"/>
            <a:ext cx="3785616" cy="219456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522976" y="135331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0.92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20040" y="1673352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Interest/Revenue Ratio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1691640" y="1728216"/>
            <a:ext cx="3579876" cy="219456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17236" y="1728216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0.87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20040" y="2048256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Balance (% GDP)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1691640" y="2103120"/>
            <a:ext cx="3332988" cy="219456"/>
          </a:xfrm>
          <a:prstGeom prst="rect">
            <a:avLst/>
          </a:prstGeom>
          <a:solidFill>
            <a:srgbClr val="FF8F00"/>
          </a:solidFill>
          <a:ln w="12700">
            <a:solidFill>
              <a:srgbClr val="FF8F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70348" y="2103120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0.81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20040" y="2423160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 Growth Rate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1691640" y="2478024"/>
            <a:ext cx="3044952" cy="219456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82312" y="2478024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0.74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20040" y="2798064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Inflation Rate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1691640" y="2852928"/>
            <a:ext cx="2798064" cy="219456"/>
          </a:xfrm>
          <a:prstGeom prst="rect">
            <a:avLst/>
          </a:prstGeom>
          <a:solidFill>
            <a:srgbClr val="FFA000"/>
          </a:solidFill>
          <a:ln w="12700">
            <a:solidFill>
              <a:srgbClr val="FFA0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35424" y="2852928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0.68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320040" y="3172968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Exchange Rate Depreciation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1691640" y="3227832"/>
            <a:ext cx="2427732" cy="219456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65092" y="322783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0.59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320040" y="3547872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Debt (% GDP)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1691640" y="3602736"/>
            <a:ext cx="2221992" cy="219456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959352" y="3602736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0.54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320040" y="3922776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(% GDP)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1691640" y="3977640"/>
            <a:ext cx="1933956" cy="219456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71316" y="3977640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0.47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320040" y="4297680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Foreign Reserves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1691640" y="4352544"/>
            <a:ext cx="1563624" cy="219456"/>
          </a:xfrm>
          <a:prstGeom prst="rect">
            <a:avLst/>
          </a:prstGeom>
          <a:solidFill>
            <a:srgbClr val="66BB6A"/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00984" y="4352544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0.38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5349240" y="914400"/>
            <a:ext cx="3520440" cy="3931920"/>
          </a:xfrm>
          <a:prstGeom prst="rect">
            <a:avLst/>
          </a:prstGeom>
          <a:solidFill>
            <a:srgbClr val="2D3748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86400" y="98755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9A8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 Implications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5532120" y="1453896"/>
            <a:ext cx="219456" cy="219456"/>
          </a:xfrm>
          <a:prstGeom prst="ellipse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32120" y="145389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63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5852160" y="141732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C8E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Debt ceiling rule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5852160" y="164592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 Debt/GDP ≤ 65%; constitutional fiscal responsibility law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5532120" y="2112264"/>
            <a:ext cx="219456" cy="219456"/>
          </a:xfrm>
          <a:prstGeom prst="ellipse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532120" y="211226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63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5852160" y="2075688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C8E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mobilisation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5852160" y="2304288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Widen tax net; cut tax expenditures to lower Interest/Revenue burden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5532120" y="2770632"/>
            <a:ext cx="219456" cy="219456"/>
          </a:xfrm>
          <a:prstGeom prst="ellipse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532120" y="277063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63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5852160" y="2734056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C8E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FX reserve buffer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5852160" y="2962656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≥ 4 months import cover before any external shock materialises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5532120" y="3429000"/>
            <a:ext cx="219456" cy="219456"/>
          </a:xfrm>
          <a:prstGeom prst="ellipse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532120" y="342900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63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5852160" y="3392424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C8E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stimulus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5852160" y="3621024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countercyclical fiscal support when GDP growth drops below 3%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5532120" y="4087368"/>
            <a:ext cx="219456" cy="219456"/>
          </a:xfrm>
          <a:prstGeom prst="ellipse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532120" y="408736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63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5852160" y="40507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C8E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EWS alert protocol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5852160" y="4279392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score &gt; 0.60 triggers MoF &amp; Bank of Ghana review meeting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5E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2743200"/>
            <a:ext cx="4572000" cy="4572000"/>
          </a:xfrm>
          <a:prstGeom prst="ellipse">
            <a:avLst/>
          </a:prstGeom>
          <a:solidFill>
            <a:srgbClr val="2E7D32">
              <a:alpha val="30000"/>
            </a:srgbClr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0" y="-1371600"/>
            <a:ext cx="3200400" cy="3200400"/>
          </a:xfrm>
          <a:prstGeom prst="ellipse">
            <a:avLst/>
          </a:prstGeom>
          <a:solidFill>
            <a:srgbClr val="F9A825">
              <a:alpha val="25000"/>
            </a:srgbClr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 &amp; Next Steps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234440"/>
            <a:ext cx="4133088" cy="1298448"/>
          </a:xfrm>
          <a:prstGeom prst="rect">
            <a:avLst/>
          </a:prstGeom>
          <a:solidFill>
            <a:srgbClr val="FFFFFF">
              <a:alpha val="85000"/>
            </a:srgbClr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234440"/>
            <a:ext cx="64008" cy="1298448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3258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9A8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XGBoost Selected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169164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balance of accuracy, interpretability, and robustness for Ghana's 34-year annual panel dataset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27448" y="1234440"/>
            <a:ext cx="4133088" cy="1298448"/>
          </a:xfrm>
          <a:prstGeom prst="rect">
            <a:avLst/>
          </a:prstGeom>
          <a:solidFill>
            <a:srgbClr val="FFFFFF">
              <a:alpha val="85000"/>
            </a:srgbClr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27448" y="1234440"/>
            <a:ext cx="64008" cy="1298448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10328" y="13258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9A8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SHAP-Powered Insights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910328" y="169164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Debt/GDP and Interest/Revenue are primary stress drivers — directly actionable by policymakers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0040" y="2697480"/>
            <a:ext cx="4133088" cy="1298448"/>
          </a:xfrm>
          <a:prstGeom prst="rect">
            <a:avLst/>
          </a:prstGeom>
          <a:solidFill>
            <a:srgbClr val="FFFFFF">
              <a:alpha val="85000"/>
            </a:srgbClr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040" y="2697480"/>
            <a:ext cx="64008" cy="1298448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7889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9A8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Reproducible Pipeline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02920" y="315468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Google Colab notebook provided; easily updated with fresh WDI/IMF WEO annual data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27448" y="2697480"/>
            <a:ext cx="4133088" cy="1298448"/>
          </a:xfrm>
          <a:prstGeom prst="rect">
            <a:avLst/>
          </a:prstGeom>
          <a:solidFill>
            <a:srgbClr val="FFFFFF">
              <a:alpha val="85000"/>
            </a:srgbClr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27448" y="2697480"/>
            <a:ext cx="64008" cy="1298448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10328" y="27889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9A8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Early Warning System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910328" y="315468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outputs 0–1 probability enabling threshold-based fiscal stress alert for MoF &amp; BoG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2880" y="4663440"/>
            <a:ext cx="87782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Modelling Fiscal Stress of the Ghanaian Economy  ·  XGBoost Classification Pipeline  ·  1990–2023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Modelling Fiscal Stress of the Ghanaian Economy</dc:title>
  <dc:subject>PptxGenJS Presentation</dc:subject>
  <dc:creator>Ghana Fiscal Stress Project</dc:creator>
  <cp:lastModifiedBy>Ghana Fiscal Stress Project</cp:lastModifiedBy>
  <cp:revision>1</cp:revision>
  <dcterms:created xsi:type="dcterms:W3CDTF">2026-05-14T19:47:11Z</dcterms:created>
  <dcterms:modified xsi:type="dcterms:W3CDTF">2026-05-14T19:47:11Z</dcterms:modified>
</cp:coreProperties>
</file>